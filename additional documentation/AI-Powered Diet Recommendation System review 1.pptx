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509B1DE-040A-4E88-9644-390F4B9D0CE1}" type="datetimeFigureOut">
              <a:rPr lang="en-IN" smtClean="0"/>
              <a:t>11-08-2025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4153086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09B1DE-040A-4E88-9644-390F4B9D0CE1}"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3767780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09B1DE-040A-4E88-9644-390F4B9D0CE1}"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460455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09B1DE-040A-4E88-9644-390F4B9D0CE1}"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2142086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09B1DE-040A-4E88-9644-390F4B9D0CE1}" type="datetimeFigureOut">
              <a:rPr lang="en-IN" smtClean="0"/>
              <a:t>11-08-2025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1018801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09B1DE-040A-4E88-9644-390F4B9D0CE1}" type="datetimeFigureOut">
              <a:rPr lang="en-IN" smtClean="0"/>
              <a:t>11-08-2025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882451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09B1DE-040A-4E88-9644-390F4B9D0CE1}" type="datetimeFigureOut">
              <a:rPr lang="en-IN" smtClean="0"/>
              <a:t>11-08-2025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3537011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09B1DE-040A-4E88-9644-390F4B9D0CE1}"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3606844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09B1DE-040A-4E88-9644-390F4B9D0CE1}"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34485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09B1DE-040A-4E88-9644-390F4B9D0CE1}"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1868964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09B1DE-040A-4E88-9644-390F4B9D0CE1}"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2344270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09B1DE-040A-4E88-9644-390F4B9D0CE1}"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A796C1-C1C8-4BB9-856F-D22D3AC0F497}"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713955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09B1DE-040A-4E88-9644-390F4B9D0CE1}" type="datetimeFigureOut">
              <a:rPr lang="en-IN" smtClean="0"/>
              <a:t>11-08-2025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1574564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509B1DE-040A-4E88-9644-390F4B9D0CE1}" type="datetimeFigureOut">
              <a:rPr lang="en-IN" smtClean="0"/>
              <a:t>11-08-2025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38469238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509B1DE-040A-4E88-9644-390F4B9D0CE1}" type="datetimeFigureOut">
              <a:rPr lang="en-IN" smtClean="0"/>
              <a:t>11-08-2025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312813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09B1DE-040A-4E88-9644-390F4B9D0CE1}"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3491247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09B1DE-040A-4E88-9644-390F4B9D0CE1}" type="datetimeFigureOut">
              <a:rPr lang="en-IN" smtClean="0"/>
              <a:t>11-08-2025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A796C1-C1C8-4BB9-856F-D22D3AC0F497}" type="slidenum">
              <a:rPr lang="en-IN" smtClean="0"/>
              <a:t>‹#›</a:t>
            </a:fld>
            <a:endParaRPr lang="en-IN"/>
          </a:p>
        </p:txBody>
      </p:sp>
    </p:spTree>
    <p:extLst>
      <p:ext uri="{BB962C8B-B14F-4D97-AF65-F5344CB8AC3E}">
        <p14:creationId xmlns:p14="http://schemas.microsoft.com/office/powerpoint/2010/main" val="928545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509B1DE-040A-4E88-9644-390F4B9D0CE1}" type="datetimeFigureOut">
              <a:rPr lang="en-IN" smtClean="0"/>
              <a:t>11-08-2025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CA796C1-C1C8-4BB9-856F-D22D3AC0F497}" type="slidenum">
              <a:rPr lang="en-IN" smtClean="0"/>
              <a:t>‹#›</a:t>
            </a:fld>
            <a:endParaRPr lang="en-IN"/>
          </a:p>
        </p:txBody>
      </p:sp>
    </p:spTree>
    <p:extLst>
      <p:ext uri="{BB962C8B-B14F-4D97-AF65-F5344CB8AC3E}">
        <p14:creationId xmlns:p14="http://schemas.microsoft.com/office/powerpoint/2010/main" val="13754021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A1F3D-63CD-7FEF-018B-3582DE608CAE}"/>
              </a:ext>
            </a:extLst>
          </p:cNvPr>
          <p:cNvSpPr>
            <a:spLocks noGrp="1"/>
          </p:cNvSpPr>
          <p:nvPr>
            <p:ph type="ctrTitle"/>
          </p:nvPr>
        </p:nvSpPr>
        <p:spPr/>
        <p:txBody>
          <a:bodyPr>
            <a:normAutofit fontScale="90000"/>
          </a:bodyPr>
          <a:lstStyle/>
          <a:p>
            <a:r>
              <a:rPr lang="en-US" dirty="0">
                <a:solidFill>
                  <a:schemeClr val="bg2">
                    <a:lumMod val="20000"/>
                    <a:lumOff val="80000"/>
                  </a:schemeClr>
                </a:solidFill>
                <a:latin typeface="Roboto Slab" pitchFamily="34" charset="0"/>
                <a:ea typeface="Roboto Slab" pitchFamily="34" charset="-122"/>
                <a:cs typeface="Roboto Slab" pitchFamily="34" charset="-120"/>
              </a:rPr>
              <a:t>AI-Powered Diet Recommendation System: Revolutionizing Personalized Nutrition</a:t>
            </a:r>
            <a:br>
              <a:rPr lang="en-US" dirty="0"/>
            </a:br>
            <a:endParaRPr lang="en-IN" dirty="0"/>
          </a:p>
        </p:txBody>
      </p:sp>
      <p:sp>
        <p:nvSpPr>
          <p:cNvPr id="3" name="Subtitle 2">
            <a:extLst>
              <a:ext uri="{FF2B5EF4-FFF2-40B4-BE49-F238E27FC236}">
                <a16:creationId xmlns:a16="http://schemas.microsoft.com/office/drawing/2014/main" id="{23610959-64D8-688B-6E16-900F92F374DF}"/>
              </a:ext>
            </a:extLst>
          </p:cNvPr>
          <p:cNvSpPr>
            <a:spLocks noGrp="1"/>
          </p:cNvSpPr>
          <p:nvPr>
            <p:ph type="subTitle" idx="1"/>
          </p:nvPr>
        </p:nvSpPr>
        <p:spPr>
          <a:xfrm>
            <a:off x="1876424" y="3602038"/>
            <a:ext cx="8791575" cy="2552956"/>
          </a:xfrm>
        </p:spPr>
        <p:txBody>
          <a:bodyPr>
            <a:normAutofit fontScale="85000" lnSpcReduction="20000"/>
          </a:bodyPr>
          <a:lstStyle/>
          <a:p>
            <a:r>
              <a:rPr lang="en-US" dirty="0">
                <a:solidFill>
                  <a:schemeClr val="bg1">
                    <a:lumMod val="75000"/>
                    <a:lumOff val="25000"/>
                  </a:schemeClr>
                </a:solidFill>
                <a:latin typeface="Roboto" pitchFamily="34" charset="0"/>
                <a:ea typeface="Roboto" pitchFamily="34" charset="-122"/>
                <a:cs typeface="Roboto" pitchFamily="34" charset="-120"/>
              </a:rPr>
              <a:t>TO Discover how artificial intelligence is transforming how we approach diet and nutrition, moving beyond one-size-fits-all advice to deliver truly tailored health solutions</a:t>
            </a:r>
            <a:r>
              <a:rPr lang="en-US" dirty="0">
                <a:solidFill>
                  <a:srgbClr val="D6E5EF"/>
                </a:solidFill>
                <a:latin typeface="Roboto" pitchFamily="34" charset="0"/>
                <a:ea typeface="Roboto" pitchFamily="34" charset="-122"/>
                <a:cs typeface="Roboto" pitchFamily="34" charset="-120"/>
              </a:rPr>
              <a:t>.</a:t>
            </a:r>
          </a:p>
          <a:p>
            <a:br>
              <a:rPr lang="en-US" dirty="0">
                <a:solidFill>
                  <a:srgbClr val="D6E5EF"/>
                </a:solidFill>
                <a:latin typeface="Roboto" pitchFamily="34" charset="0"/>
                <a:ea typeface="Roboto" pitchFamily="34" charset="-122"/>
                <a:cs typeface="Roboto" pitchFamily="34" charset="-120"/>
              </a:rPr>
            </a:br>
            <a:endParaRPr lang="en-US" dirty="0">
              <a:solidFill>
                <a:srgbClr val="D6E5EF"/>
              </a:solidFill>
              <a:latin typeface="Roboto" pitchFamily="34" charset="0"/>
              <a:ea typeface="Roboto" pitchFamily="34" charset="-122"/>
              <a:cs typeface="Roboto" pitchFamily="34" charset="-120"/>
            </a:endParaRPr>
          </a:p>
          <a:p>
            <a:r>
              <a:rPr lang="en-US" dirty="0"/>
              <a:t>					BY-  PratYAy Roy (23BBS0033)</a:t>
            </a:r>
            <a:br>
              <a:rPr lang="en-US" dirty="0"/>
            </a:br>
            <a:r>
              <a:rPr lang="en-US" dirty="0"/>
              <a:t>      					       Srinjan Nandy (23BBS0045)</a:t>
            </a:r>
          </a:p>
          <a:p>
            <a:r>
              <a:rPr lang="en-US" dirty="0"/>
              <a:t>      					       Riddhi Basak (23BBS0092)</a:t>
            </a:r>
          </a:p>
          <a:p>
            <a:endParaRPr lang="en-US" dirty="0"/>
          </a:p>
          <a:p>
            <a:endParaRPr lang="en-IN" dirty="0"/>
          </a:p>
        </p:txBody>
      </p:sp>
    </p:spTree>
    <p:extLst>
      <p:ext uri="{BB962C8B-B14F-4D97-AF65-F5344CB8AC3E}">
        <p14:creationId xmlns:p14="http://schemas.microsoft.com/office/powerpoint/2010/main" val="3459258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E6758-D88F-D6DE-C11E-F487A2590D48}"/>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143C437B-9583-5ECD-C0D5-FCE29064F9C5}"/>
              </a:ext>
            </a:extLst>
          </p:cNvPr>
          <p:cNvSpPr>
            <a:spLocks noGrp="1"/>
          </p:cNvSpPr>
          <p:nvPr>
            <p:ph idx="1"/>
          </p:nvPr>
        </p:nvSpPr>
        <p:spPr>
          <a:xfrm>
            <a:off x="1141412" y="1828800"/>
            <a:ext cx="10146020" cy="4410682"/>
          </a:xfrm>
        </p:spPr>
        <p:txBody>
          <a:bodyPr>
            <a:normAutofit fontScale="70000" lnSpcReduction="20000"/>
          </a:bodyPr>
          <a:lstStyle/>
          <a:p>
            <a:r>
              <a:rPr lang="en-US" dirty="0"/>
              <a:t>The primary objective of the </a:t>
            </a:r>
            <a:r>
              <a:rPr lang="en-US" b="1" dirty="0"/>
              <a:t>AI-powered Diet Recommendation System based on Health Profile and Goals</a:t>
            </a:r>
            <a:r>
              <a:rPr lang="en-US" dirty="0"/>
              <a:t> is to develop an intelligent and personalized nutrition planning tool that analyzes an individual’s health parameters, dietary preferences, and wellness goals to provide scientifically accurate and customized meal recommendations.</a:t>
            </a:r>
          </a:p>
          <a:p>
            <a:r>
              <a:rPr lang="en-US" dirty="0"/>
              <a:t>The system will leverage </a:t>
            </a:r>
            <a:r>
              <a:rPr lang="en-US" b="1" dirty="0"/>
              <a:t>machine learning, nutritional databases, and user input</a:t>
            </a:r>
            <a:r>
              <a:rPr lang="en-US" dirty="0"/>
              <a:t> (such as age, gender, weight, height, medical conditions, activity level, and food preferences) to:</a:t>
            </a:r>
          </a:p>
          <a:p>
            <a:r>
              <a:rPr lang="en-US" b="1" dirty="0"/>
              <a:t>Promote healthy eating habits</a:t>
            </a:r>
            <a:r>
              <a:rPr lang="en-US" dirty="0"/>
              <a:t> by recommending balanced, goal-specific diets (e.g., weight loss, muscle gain, diabetic-friendly plans).</a:t>
            </a:r>
          </a:p>
          <a:p>
            <a:r>
              <a:rPr lang="en-US" b="1" dirty="0"/>
              <a:t>Enhance health outcomes</a:t>
            </a:r>
            <a:r>
              <a:rPr lang="en-US" dirty="0"/>
              <a:t> by aligning meal suggestions with medical constraints and nutrient requirements.</a:t>
            </a:r>
          </a:p>
          <a:p>
            <a:r>
              <a:rPr lang="en-US" b="1" dirty="0"/>
              <a:t>Provide real-time adaptability</a:t>
            </a:r>
            <a:r>
              <a:rPr lang="en-US" dirty="0"/>
              <a:t> by adjusting diet plans based on progress tracking and lifestyle changes.</a:t>
            </a:r>
          </a:p>
          <a:p>
            <a:r>
              <a:rPr lang="en-US" b="1" dirty="0"/>
              <a:t>Reduce human effort</a:t>
            </a:r>
            <a:r>
              <a:rPr lang="en-US" dirty="0"/>
              <a:t> in diet planning through automation and AI-driven decision-making.</a:t>
            </a:r>
          </a:p>
          <a:p>
            <a:r>
              <a:rPr lang="en-US" dirty="0"/>
              <a:t>In short, the project aims to create a </a:t>
            </a:r>
            <a:r>
              <a:rPr lang="en-US" b="1" dirty="0"/>
              <a:t>smart, adaptive, and user-centric nutrition assistant</a:t>
            </a:r>
            <a:r>
              <a:rPr lang="en-US" dirty="0"/>
              <a:t> that supports long-term health and wellness goals.</a:t>
            </a:r>
          </a:p>
          <a:p>
            <a:endParaRPr lang="en-IN" dirty="0"/>
          </a:p>
        </p:txBody>
      </p:sp>
    </p:spTree>
    <p:extLst>
      <p:ext uri="{BB962C8B-B14F-4D97-AF65-F5344CB8AC3E}">
        <p14:creationId xmlns:p14="http://schemas.microsoft.com/office/powerpoint/2010/main" val="2641694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78B31-7661-C34E-90AE-1E087AEC06AC}"/>
              </a:ext>
            </a:extLst>
          </p:cNvPr>
          <p:cNvSpPr>
            <a:spLocks noGrp="1"/>
          </p:cNvSpPr>
          <p:nvPr>
            <p:ph type="title"/>
          </p:nvPr>
        </p:nvSpPr>
        <p:spPr/>
        <p:txBody>
          <a:bodyPr/>
          <a:lstStyle/>
          <a:p>
            <a:r>
              <a:rPr lang="en-IN" dirty="0"/>
              <a:t>Literature Review </a:t>
            </a:r>
          </a:p>
        </p:txBody>
      </p:sp>
      <p:sp>
        <p:nvSpPr>
          <p:cNvPr id="3" name="Content Placeholder 2">
            <a:extLst>
              <a:ext uri="{FF2B5EF4-FFF2-40B4-BE49-F238E27FC236}">
                <a16:creationId xmlns:a16="http://schemas.microsoft.com/office/drawing/2014/main" id="{570D39BB-AE7D-1CE6-36E5-4524AAA49E28}"/>
              </a:ext>
            </a:extLst>
          </p:cNvPr>
          <p:cNvSpPr>
            <a:spLocks noGrp="1"/>
          </p:cNvSpPr>
          <p:nvPr>
            <p:ph idx="1"/>
          </p:nvPr>
        </p:nvSpPr>
        <p:spPr/>
        <p:txBody>
          <a:bodyPr>
            <a:normAutofit fontScale="85000" lnSpcReduction="10000"/>
          </a:bodyPr>
          <a:lstStyle/>
          <a:p>
            <a:r>
              <a:rPr lang="en-IN" b="1" u="sng" dirty="0">
                <a:solidFill>
                  <a:schemeClr val="accent2">
                    <a:lumMod val="40000"/>
                    <a:lumOff val="60000"/>
                  </a:schemeClr>
                </a:solidFill>
              </a:rPr>
              <a:t>Abstract</a:t>
            </a:r>
            <a:r>
              <a:rPr lang="en-IN" dirty="0"/>
              <a:t>: </a:t>
            </a:r>
            <a:r>
              <a:rPr lang="en-US" dirty="0"/>
              <a:t>This report presents a multi-faceted food recommendation system encompassing three key components: dietary guidance, personalized recipe or food suggestions, and protein content prediction for new products. The first component provides tailored calorie recommendations based on individual parameters such as age, weight, and height, catering to goals like weight maintenance, loss, or gain. The second offers food and recipe suggestions aligned with specified caloric and nutrient requirements. Lastly, we designed a system that utilizes a neural network model to predict protein content in new food products based on which market sizing and product adoption have been taken into account. These integrated approaches harness machine learning techniques to promote healthier eating habits and innovate in the realm of nutrition and health.</a:t>
            </a:r>
            <a:endParaRPr lang="en-IN" dirty="0"/>
          </a:p>
        </p:txBody>
      </p:sp>
    </p:spTree>
    <p:extLst>
      <p:ext uri="{BB962C8B-B14F-4D97-AF65-F5344CB8AC3E}">
        <p14:creationId xmlns:p14="http://schemas.microsoft.com/office/powerpoint/2010/main" val="2433051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B14F8-FA10-8E88-4B40-886B33E00940}"/>
              </a:ext>
            </a:extLst>
          </p:cNvPr>
          <p:cNvSpPr>
            <a:spLocks noGrp="1"/>
          </p:cNvSpPr>
          <p:nvPr>
            <p:ph type="title"/>
          </p:nvPr>
        </p:nvSpPr>
        <p:spPr>
          <a:xfrm>
            <a:off x="1425677" y="609601"/>
            <a:ext cx="5650243" cy="1376516"/>
          </a:xfrm>
        </p:spPr>
        <p:txBody>
          <a:bodyPr/>
          <a:lstStyle/>
          <a:p>
            <a:r>
              <a:rPr lang="en-IN" dirty="0"/>
              <a:t>Literature review (PART 2)</a:t>
            </a:r>
          </a:p>
        </p:txBody>
      </p:sp>
      <p:sp>
        <p:nvSpPr>
          <p:cNvPr id="4" name="Text Placeholder 3">
            <a:extLst>
              <a:ext uri="{FF2B5EF4-FFF2-40B4-BE49-F238E27FC236}">
                <a16:creationId xmlns:a16="http://schemas.microsoft.com/office/drawing/2014/main" id="{414B7D1D-A804-55A0-FDF1-BA524AE07446}"/>
              </a:ext>
            </a:extLst>
          </p:cNvPr>
          <p:cNvSpPr>
            <a:spLocks noGrp="1"/>
          </p:cNvSpPr>
          <p:nvPr>
            <p:ph type="body" sz="half" idx="2"/>
          </p:nvPr>
        </p:nvSpPr>
        <p:spPr>
          <a:xfrm>
            <a:off x="1141410" y="2064774"/>
            <a:ext cx="6065635" cy="4183625"/>
          </a:xfrm>
        </p:spPr>
        <p:txBody>
          <a:bodyPr>
            <a:normAutofit fontScale="92500" lnSpcReduction="20000"/>
          </a:bodyPr>
          <a:lstStyle/>
          <a:p>
            <a:pPr marL="342900" indent="-342900">
              <a:buAutoNum type="arabicPeriod"/>
            </a:pPr>
            <a:r>
              <a:rPr lang="en-US" b="1" u="sng" dirty="0">
                <a:solidFill>
                  <a:schemeClr val="accent2">
                    <a:lumMod val="40000"/>
                    <a:lumOff val="60000"/>
                  </a:schemeClr>
                </a:solidFill>
              </a:rPr>
              <a:t>Personalized Nutrition and AI-Powered Systems</a:t>
            </a:r>
            <a:r>
              <a:rPr lang="en-US" dirty="0"/>
              <a:t>: AI powered diet recommendation systems have emerged as a promising solution for providing personalized nutrition advice. These systems can analyze individual characteristics, such as age, sex, weight, and health goals, to provide tailored dietary recommendations. </a:t>
            </a:r>
          </a:p>
          <a:p>
            <a:pPr marL="342900" indent="-342900">
              <a:buAutoNum type="arabicPeriod"/>
            </a:pPr>
            <a:r>
              <a:rPr lang="en-US" dirty="0"/>
              <a:t> </a:t>
            </a:r>
            <a:r>
              <a:rPr lang="en-US" b="1" u="sng" dirty="0">
                <a:solidFill>
                  <a:schemeClr val="accent2">
                    <a:lumMod val="40000"/>
                    <a:lumOff val="60000"/>
                  </a:schemeClr>
                </a:solidFill>
              </a:rPr>
              <a:t>Machine Learning Algorithms for Diet Recommendation: </a:t>
            </a:r>
            <a:r>
              <a:rPr lang="en-US" dirty="0"/>
              <a:t>Various machine learning algorithms, including collaborative filtering, content-based filtering, and deep learning, have been employed to develop diet recommendation systems. These algorithms have demonstrated effectiveness in providing personalized dietary advice.</a:t>
            </a:r>
          </a:p>
          <a:p>
            <a:pPr marL="342900" indent="-342900">
              <a:buAutoNum type="arabicPeriod"/>
            </a:pPr>
            <a:r>
              <a:rPr lang="en-US" b="1" u="sng" dirty="0">
                <a:solidFill>
                  <a:schemeClr val="accent2">
                    <a:lumMod val="40000"/>
                    <a:lumOff val="60000"/>
                  </a:schemeClr>
                </a:solidFill>
              </a:rPr>
              <a:t>Data Integration and Food Ontology: </a:t>
            </a:r>
            <a:r>
              <a:rPr lang="en-US" dirty="0"/>
              <a:t>Integrating data from various sources, such as wearable devices, electronic health records, and food diaries, can enhance the accuracy and effectiveness of diet recommendation systems. The development of food ontologies can facilitate the creation of more comprehensive and accurate diet recommendation systems.</a:t>
            </a:r>
            <a:endParaRPr lang="en-IN" dirty="0"/>
          </a:p>
        </p:txBody>
      </p:sp>
      <p:pic>
        <p:nvPicPr>
          <p:cNvPr id="5" name="Image 0">
            <a:extLst>
              <a:ext uri="{FF2B5EF4-FFF2-40B4-BE49-F238E27FC236}">
                <a16:creationId xmlns:a16="http://schemas.microsoft.com/office/drawing/2014/main" id="{5B673650-CFA8-D88A-2070-71D937886C31}"/>
              </a:ext>
            </a:extLst>
          </p:cNvPr>
          <p:cNvPicPr>
            <a:picLocks noGrp="1" noChangeAspect="1"/>
          </p:cNvPicPr>
          <p:nvPr>
            <p:ph type="pic" idx="1"/>
          </p:nvPr>
        </p:nvPicPr>
        <p:blipFill>
          <a:blip r:embed="rId2"/>
          <a:srcRect l="14614" r="14614"/>
          <a:stretch>
            <a:fillRect/>
          </a:stretch>
        </p:blipFill>
        <p:spPr>
          <a:xfrm>
            <a:off x="7469211" y="1066801"/>
            <a:ext cx="3666690" cy="5181599"/>
          </a:xfrm>
          <a:prstGeom prst="rect">
            <a:avLst/>
          </a:prstGeom>
        </p:spPr>
      </p:pic>
    </p:spTree>
    <p:extLst>
      <p:ext uri="{BB962C8B-B14F-4D97-AF65-F5344CB8AC3E}">
        <p14:creationId xmlns:p14="http://schemas.microsoft.com/office/powerpoint/2010/main" val="3009592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F5403-A313-5D08-AF8F-F13E3242B341}"/>
              </a:ext>
            </a:extLst>
          </p:cNvPr>
          <p:cNvSpPr>
            <a:spLocks noGrp="1"/>
          </p:cNvSpPr>
          <p:nvPr>
            <p:ph type="title"/>
          </p:nvPr>
        </p:nvSpPr>
        <p:spPr/>
        <p:txBody>
          <a:bodyPr/>
          <a:lstStyle/>
          <a:p>
            <a:r>
              <a:rPr lang="en-IN" dirty="0"/>
              <a:t>Literature review (part 3)</a:t>
            </a:r>
          </a:p>
        </p:txBody>
      </p:sp>
      <p:sp>
        <p:nvSpPr>
          <p:cNvPr id="4" name="Text Placeholder 3">
            <a:extLst>
              <a:ext uri="{FF2B5EF4-FFF2-40B4-BE49-F238E27FC236}">
                <a16:creationId xmlns:a16="http://schemas.microsoft.com/office/drawing/2014/main" id="{F65641F6-6A5E-4DCF-5647-097339EA0920}"/>
              </a:ext>
            </a:extLst>
          </p:cNvPr>
          <p:cNvSpPr>
            <a:spLocks noGrp="1"/>
          </p:cNvSpPr>
          <p:nvPr>
            <p:ph type="body" sz="half" idx="2"/>
          </p:nvPr>
        </p:nvSpPr>
        <p:spPr>
          <a:xfrm>
            <a:off x="1141410" y="2249486"/>
            <a:ext cx="6065635" cy="3846514"/>
          </a:xfrm>
        </p:spPr>
        <p:txBody>
          <a:bodyPr>
            <a:normAutofit fontScale="92500" lnSpcReduction="20000"/>
          </a:bodyPr>
          <a:lstStyle/>
          <a:p>
            <a:r>
              <a:rPr lang="en-US" b="1" u="sng" dirty="0">
                <a:solidFill>
                  <a:schemeClr val="accent2">
                    <a:lumMod val="40000"/>
                    <a:lumOff val="60000"/>
                  </a:schemeClr>
                </a:solidFill>
              </a:rPr>
              <a:t>In a study by </a:t>
            </a:r>
            <a:r>
              <a:rPr lang="en-US" b="1" i="1" u="sng" dirty="0">
                <a:solidFill>
                  <a:schemeClr val="accent2">
                    <a:lumMod val="40000"/>
                    <a:lumOff val="60000"/>
                  </a:schemeClr>
                </a:solidFill>
              </a:rPr>
              <a:t>Rashid et al. (2022)</a:t>
            </a:r>
            <a:r>
              <a:rPr lang="en-US" b="1" u="sng" dirty="0">
                <a:solidFill>
                  <a:schemeClr val="accent2">
                    <a:lumMod val="40000"/>
                    <a:lumOff val="60000"/>
                  </a:schemeClr>
                </a:solidFill>
              </a:rPr>
              <a:t>, </a:t>
            </a:r>
            <a:r>
              <a:rPr lang="en-US" dirty="0"/>
              <a:t>an AI-powered personalized diet recommendation system using </a:t>
            </a:r>
            <a:r>
              <a:rPr lang="en-US" b="1" dirty="0"/>
              <a:t>Random Forest and KNN classifiers</a:t>
            </a:r>
            <a:r>
              <a:rPr lang="en-US" dirty="0"/>
              <a:t> achieved:</a:t>
            </a:r>
          </a:p>
          <a:p>
            <a:r>
              <a:rPr lang="en-US" b="1" dirty="0"/>
              <a:t>Accuracy:</a:t>
            </a:r>
            <a:r>
              <a:rPr lang="en-US" dirty="0"/>
              <a:t> 92.4% in matching meal plans to individual health goals.</a:t>
            </a:r>
          </a:p>
          <a:p>
            <a:r>
              <a:rPr lang="en-US" b="1" dirty="0"/>
              <a:t>Precision:</a:t>
            </a:r>
            <a:r>
              <a:rPr lang="en-US" dirty="0"/>
              <a:t> 90.8% in correctly suggesting medically safe foods for users with dietary restrictions.</a:t>
            </a:r>
          </a:p>
          <a:p>
            <a:r>
              <a:rPr lang="en-US" b="1" dirty="0"/>
              <a:t>User satisfaction score:</a:t>
            </a:r>
            <a:r>
              <a:rPr lang="en-US" dirty="0"/>
              <a:t> 4.6/5 from 150 participants after 4 weeks of usage.</a:t>
            </a:r>
          </a:p>
          <a:p>
            <a:r>
              <a:rPr lang="en-US" b="1" u="sng" dirty="0">
                <a:solidFill>
                  <a:schemeClr val="accent2">
                    <a:lumMod val="40000"/>
                    <a:lumOff val="60000"/>
                  </a:schemeClr>
                </a:solidFill>
              </a:rPr>
              <a:t>Similarly, </a:t>
            </a:r>
            <a:r>
              <a:rPr lang="en-US" b="1" i="1" u="sng" dirty="0">
                <a:solidFill>
                  <a:schemeClr val="accent2">
                    <a:lumMod val="40000"/>
                    <a:lumOff val="60000"/>
                  </a:schemeClr>
                </a:solidFill>
              </a:rPr>
              <a:t>Kumar &amp; Singh (2021</a:t>
            </a:r>
            <a:r>
              <a:rPr lang="en-US" i="1" dirty="0"/>
              <a:t>)</a:t>
            </a:r>
            <a:r>
              <a:rPr lang="en-US" dirty="0"/>
              <a:t> implemented a </a:t>
            </a:r>
            <a:r>
              <a:rPr lang="en-US" b="1" dirty="0"/>
              <a:t>hybrid recommendation model (content-based + collaborative filtering)</a:t>
            </a:r>
            <a:r>
              <a:rPr lang="en-US" dirty="0"/>
              <a:t> for nutrition planning and reported:</a:t>
            </a:r>
          </a:p>
          <a:p>
            <a:r>
              <a:rPr lang="en-US" b="1" dirty="0"/>
              <a:t>Diet plan adherence improvement:</a:t>
            </a:r>
            <a:r>
              <a:rPr lang="en-US" dirty="0"/>
              <a:t> 28% compared to manual diet charts.</a:t>
            </a:r>
          </a:p>
          <a:p>
            <a:r>
              <a:rPr lang="en-US" b="1" dirty="0"/>
              <a:t>BMI reduction:</a:t>
            </a:r>
            <a:r>
              <a:rPr lang="en-US" dirty="0"/>
              <a:t> Average decrease of 1.4 points over 8 weeks for weight-loss goal users.</a:t>
            </a:r>
          </a:p>
          <a:p>
            <a:endParaRPr lang="en-IN" dirty="0"/>
          </a:p>
        </p:txBody>
      </p:sp>
      <p:pic>
        <p:nvPicPr>
          <p:cNvPr id="6" name="Image 0">
            <a:extLst>
              <a:ext uri="{FF2B5EF4-FFF2-40B4-BE49-F238E27FC236}">
                <a16:creationId xmlns:a16="http://schemas.microsoft.com/office/drawing/2014/main" id="{B6953D69-DF07-0F64-0016-BF1146F452C3}"/>
              </a:ext>
            </a:extLst>
          </p:cNvPr>
          <p:cNvPicPr>
            <a:picLocks noGrp="1" noChangeAspect="1"/>
          </p:cNvPicPr>
          <p:nvPr>
            <p:ph type="pic" idx="1"/>
          </p:nvPr>
        </p:nvPicPr>
        <p:blipFill>
          <a:blip r:embed="rId2"/>
          <a:srcRect l="14614" r="14614"/>
          <a:stretch>
            <a:fillRect/>
          </a:stretch>
        </p:blipFill>
        <p:spPr>
          <a:xfrm>
            <a:off x="7383897" y="838200"/>
            <a:ext cx="3666690" cy="5181599"/>
          </a:xfrm>
          <a:prstGeom prst="rect">
            <a:avLst/>
          </a:prstGeom>
        </p:spPr>
      </p:pic>
    </p:spTree>
    <p:extLst>
      <p:ext uri="{BB962C8B-B14F-4D97-AF65-F5344CB8AC3E}">
        <p14:creationId xmlns:p14="http://schemas.microsoft.com/office/powerpoint/2010/main" val="3725254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FA43-C54B-197F-1ED2-3137DB4C9227}"/>
              </a:ext>
            </a:extLst>
          </p:cNvPr>
          <p:cNvSpPr>
            <a:spLocks noGrp="1"/>
          </p:cNvSpPr>
          <p:nvPr>
            <p:ph type="title"/>
          </p:nvPr>
        </p:nvSpPr>
        <p:spPr/>
        <p:txBody>
          <a:bodyPr/>
          <a:lstStyle/>
          <a:p>
            <a:r>
              <a:rPr lang="en-IN" dirty="0"/>
              <a:t>Literature review (part 4)</a:t>
            </a:r>
          </a:p>
        </p:txBody>
      </p:sp>
      <p:sp>
        <p:nvSpPr>
          <p:cNvPr id="3" name="Content Placeholder 2">
            <a:extLst>
              <a:ext uri="{FF2B5EF4-FFF2-40B4-BE49-F238E27FC236}">
                <a16:creationId xmlns:a16="http://schemas.microsoft.com/office/drawing/2014/main" id="{1FC06B8D-5B0E-A324-A867-C6C7C81414F8}"/>
              </a:ext>
            </a:extLst>
          </p:cNvPr>
          <p:cNvSpPr>
            <a:spLocks noGrp="1"/>
          </p:cNvSpPr>
          <p:nvPr>
            <p:ph idx="1"/>
          </p:nvPr>
        </p:nvSpPr>
        <p:spPr>
          <a:xfrm>
            <a:off x="894735" y="2249486"/>
            <a:ext cx="10294375" cy="3885843"/>
          </a:xfrm>
        </p:spPr>
        <p:txBody>
          <a:bodyPr>
            <a:normAutofit fontScale="77500" lnSpcReduction="20000"/>
          </a:bodyPr>
          <a:lstStyle/>
          <a:p>
            <a:r>
              <a:rPr lang="en-US" dirty="0"/>
              <a:t>In the evolving landscape of healthcare, the integration of Artificial Intelligence (AI) has introduced an innovative approach to personalized patient care. An extensive framework is introduced for an AI-powered healthcare recommender system, dedicated to providing customized health and wellness recommendations. Users create profiles to maintain health history, preferences, and real-time data, while recommendations are generated using advanced algorithms, regularly refined for accuracy. Real-time health monitoring, via wearable devices and health apps, ensures the latest health metrics inform recommendations. The AI-driven recommendation engine draws on the latest medical research to provide evidence-based advice. Privacy and data security are priorities, with stringent measures to protect sensitive health data and comply with data protection regulations. 0The user-friendly interface offers easy access to recommendations, progress monitoring, and health-related information. Continuous improvement is core, with user feedback and data analytics driving recommendation enhancements. This framework harnesses AI's potential in healthcare, emphasizing personalization, security, and ongoing optimization for individuals and the broader healthcare ecosystem.</a:t>
            </a:r>
            <a:endParaRPr lang="en-IN" dirty="0"/>
          </a:p>
        </p:txBody>
      </p:sp>
    </p:spTree>
    <p:extLst>
      <p:ext uri="{BB962C8B-B14F-4D97-AF65-F5344CB8AC3E}">
        <p14:creationId xmlns:p14="http://schemas.microsoft.com/office/powerpoint/2010/main" val="195939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5917A-EDB9-0283-0954-A662BB154EBB}"/>
              </a:ext>
            </a:extLst>
          </p:cNvPr>
          <p:cNvSpPr>
            <a:spLocks noGrp="1"/>
          </p:cNvSpPr>
          <p:nvPr>
            <p:ph type="title"/>
          </p:nvPr>
        </p:nvSpPr>
        <p:spPr/>
        <p:txBody>
          <a:bodyPr/>
          <a:lstStyle/>
          <a:p>
            <a:r>
              <a:rPr lang="en-US" dirty="0"/>
              <a:t>METHODOLOGY USED</a:t>
            </a:r>
            <a:endParaRPr lang="en-IN" dirty="0"/>
          </a:p>
        </p:txBody>
      </p:sp>
      <p:sp>
        <p:nvSpPr>
          <p:cNvPr id="3" name="Content Placeholder 2">
            <a:extLst>
              <a:ext uri="{FF2B5EF4-FFF2-40B4-BE49-F238E27FC236}">
                <a16:creationId xmlns:a16="http://schemas.microsoft.com/office/drawing/2014/main" id="{969EFADB-5756-D32F-B04B-146E47A9F0D2}"/>
              </a:ext>
            </a:extLst>
          </p:cNvPr>
          <p:cNvSpPr>
            <a:spLocks noGrp="1"/>
          </p:cNvSpPr>
          <p:nvPr>
            <p:ph idx="1"/>
          </p:nvPr>
        </p:nvSpPr>
        <p:spPr/>
        <p:txBody>
          <a:bodyPr>
            <a:normAutofit fontScale="85000" lnSpcReduction="10000"/>
          </a:bodyPr>
          <a:lstStyle/>
          <a:p>
            <a:pPr marL="0" indent="0">
              <a:buNone/>
            </a:pPr>
            <a:r>
              <a:rPr lang="en-IN" b="1" dirty="0"/>
              <a:t>1. Data Preprocessing</a:t>
            </a:r>
          </a:p>
          <a:p>
            <a:r>
              <a:rPr lang="en-IN" b="1" dirty="0"/>
              <a:t>Goal:</a:t>
            </a:r>
            <a:r>
              <a:rPr lang="en-IN" dirty="0"/>
              <a:t> Clean, normalize, and prepare food, nutrition, and activity data for analysis.</a:t>
            </a:r>
            <a:br>
              <a:rPr lang="en-IN" dirty="0"/>
            </a:br>
            <a:r>
              <a:rPr lang="en-IN" b="1" dirty="0"/>
              <a:t>Datasets to Use:</a:t>
            </a:r>
            <a:endParaRPr lang="en-IN" dirty="0"/>
          </a:p>
          <a:p>
            <a:r>
              <a:rPr lang="en-IN" b="1" dirty="0"/>
              <a:t>USDA </a:t>
            </a:r>
            <a:r>
              <a:rPr lang="en-IN" b="1" dirty="0" err="1"/>
              <a:t>FoodData</a:t>
            </a:r>
            <a:r>
              <a:rPr lang="en-IN" b="1" dirty="0"/>
              <a:t> Central</a:t>
            </a:r>
            <a:r>
              <a:rPr lang="en-IN" dirty="0"/>
              <a:t> – Base nutritional reference for preprocessing food-related inputs.</a:t>
            </a:r>
          </a:p>
          <a:p>
            <a:r>
              <a:rPr lang="en-IN" b="1" dirty="0"/>
              <a:t>Open Food Facts</a:t>
            </a:r>
            <a:r>
              <a:rPr lang="en-IN" dirty="0"/>
              <a:t> – Brand/product-level nutrition info (requires cleaning due to inconsistencies).</a:t>
            </a:r>
          </a:p>
          <a:p>
            <a:r>
              <a:rPr lang="en-IN" b="1" dirty="0"/>
              <a:t>NHANES Dietary Data</a:t>
            </a:r>
            <a:r>
              <a:rPr lang="en-IN" dirty="0"/>
              <a:t> – Pre-</a:t>
            </a:r>
            <a:r>
              <a:rPr lang="en-IN" dirty="0" err="1"/>
              <a:t>labeled</a:t>
            </a:r>
            <a:r>
              <a:rPr lang="en-IN" dirty="0"/>
              <a:t> survey data for testing preprocessing pipelines.</a:t>
            </a:r>
          </a:p>
          <a:p>
            <a:endParaRPr lang="en-IN" dirty="0"/>
          </a:p>
        </p:txBody>
      </p:sp>
    </p:spTree>
    <p:extLst>
      <p:ext uri="{BB962C8B-B14F-4D97-AF65-F5344CB8AC3E}">
        <p14:creationId xmlns:p14="http://schemas.microsoft.com/office/powerpoint/2010/main" val="4053217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4DC336-D574-C261-3541-FBA720F9817A}"/>
              </a:ext>
            </a:extLst>
          </p:cNvPr>
          <p:cNvSpPr>
            <a:spLocks noGrp="1"/>
          </p:cNvSpPr>
          <p:nvPr>
            <p:ph idx="1"/>
          </p:nvPr>
        </p:nvSpPr>
        <p:spPr>
          <a:xfrm>
            <a:off x="858607" y="147309"/>
            <a:ext cx="9905999" cy="6310052"/>
          </a:xfrm>
        </p:spPr>
        <p:txBody>
          <a:bodyPr>
            <a:normAutofit fontScale="77500" lnSpcReduction="20000"/>
          </a:bodyPr>
          <a:lstStyle/>
          <a:p>
            <a:pPr marL="0" indent="0">
              <a:buNone/>
            </a:pPr>
            <a:r>
              <a:rPr lang="en-IN" b="1" dirty="0"/>
              <a:t>2. Machine Learning Algorithms</a:t>
            </a:r>
          </a:p>
          <a:p>
            <a:pPr marL="0" indent="0">
              <a:buNone/>
            </a:pPr>
            <a:r>
              <a:rPr lang="en-IN" b="1" dirty="0"/>
              <a:t>a. Collaborative Filtering</a:t>
            </a:r>
          </a:p>
          <a:p>
            <a:r>
              <a:rPr lang="en-IN" b="1" dirty="0"/>
              <a:t>Goal:</a:t>
            </a:r>
            <a:r>
              <a:rPr lang="en-IN" dirty="0"/>
              <a:t> Recommend based on similar users’ preferences.</a:t>
            </a:r>
            <a:br>
              <a:rPr lang="en-IN" dirty="0"/>
            </a:br>
            <a:r>
              <a:rPr lang="en-IN" b="1" dirty="0"/>
              <a:t>Datasets:</a:t>
            </a:r>
            <a:endParaRPr lang="en-IN" dirty="0"/>
          </a:p>
          <a:p>
            <a:r>
              <a:rPr lang="en-IN" b="1" dirty="0"/>
              <a:t>MyFitnessPal Public Logs</a:t>
            </a:r>
            <a:r>
              <a:rPr lang="en-IN" dirty="0"/>
              <a:t> – User-meal interactions (can be anonymized for collaborative models).</a:t>
            </a:r>
          </a:p>
          <a:p>
            <a:r>
              <a:rPr lang="en-IN" b="1" dirty="0"/>
              <a:t>Fitbit + Diet Logs (research datasets)</a:t>
            </a:r>
            <a:r>
              <a:rPr lang="en-IN" dirty="0"/>
              <a:t> – Linking physical activity with diet patterns.</a:t>
            </a:r>
          </a:p>
          <a:p>
            <a:pPr marL="0" indent="0">
              <a:buNone/>
            </a:pPr>
            <a:r>
              <a:rPr lang="en-IN" b="1" dirty="0"/>
              <a:t>b. Content-Based Filtering</a:t>
            </a:r>
          </a:p>
          <a:p>
            <a:r>
              <a:rPr lang="en-IN" b="1" dirty="0"/>
              <a:t>Goal:</a:t>
            </a:r>
            <a:r>
              <a:rPr lang="en-IN" dirty="0"/>
              <a:t> Recommend meals matching user profile (diet type, restrictions, macros).</a:t>
            </a:r>
            <a:br>
              <a:rPr lang="en-IN" dirty="0"/>
            </a:br>
            <a:r>
              <a:rPr lang="en-IN" b="1" dirty="0"/>
              <a:t>Datasets:</a:t>
            </a:r>
            <a:endParaRPr lang="en-IN" dirty="0"/>
          </a:p>
          <a:p>
            <a:r>
              <a:rPr lang="en-IN" b="1" dirty="0"/>
              <a:t>USDA </a:t>
            </a:r>
            <a:r>
              <a:rPr lang="en-IN" b="1" dirty="0" err="1"/>
              <a:t>FoodData</a:t>
            </a:r>
            <a:r>
              <a:rPr lang="en-IN" b="1" dirty="0"/>
              <a:t> Central</a:t>
            </a:r>
            <a:r>
              <a:rPr lang="en-IN" dirty="0"/>
              <a:t> – Nutritional content matching.</a:t>
            </a:r>
          </a:p>
          <a:p>
            <a:r>
              <a:rPr lang="en-IN" b="1" dirty="0"/>
              <a:t>Recipe1M+</a:t>
            </a:r>
            <a:r>
              <a:rPr lang="en-IN" dirty="0"/>
              <a:t> – Recipes with structured ingredients and nutrition values.</a:t>
            </a:r>
          </a:p>
          <a:p>
            <a:pPr marL="0" indent="0">
              <a:buNone/>
            </a:pPr>
            <a:r>
              <a:rPr lang="en-IN" b="1" dirty="0"/>
              <a:t>c. Deep Learning</a:t>
            </a:r>
          </a:p>
          <a:p>
            <a:r>
              <a:rPr lang="en-IN" b="1" dirty="0"/>
              <a:t>Goal:</a:t>
            </a:r>
            <a:r>
              <a:rPr lang="en-IN" dirty="0"/>
              <a:t> Learn complex diet-health patterns.</a:t>
            </a:r>
            <a:br>
              <a:rPr lang="en-IN" dirty="0"/>
            </a:br>
            <a:r>
              <a:rPr lang="en-IN" b="1" dirty="0"/>
              <a:t>Datasets:</a:t>
            </a:r>
            <a:endParaRPr lang="en-IN" dirty="0"/>
          </a:p>
          <a:p>
            <a:r>
              <a:rPr lang="en-IN" b="1" dirty="0"/>
              <a:t>Nutrition5k</a:t>
            </a:r>
            <a:r>
              <a:rPr lang="en-IN" dirty="0"/>
              <a:t> – Nutritional breakdown of prepared meals.</a:t>
            </a:r>
          </a:p>
          <a:p>
            <a:r>
              <a:rPr lang="en-IN" b="1" dirty="0"/>
              <a:t>Food-101</a:t>
            </a:r>
            <a:r>
              <a:rPr lang="en-IN" dirty="0"/>
              <a:t> – For adding food image recognition to recommendations.</a:t>
            </a:r>
          </a:p>
          <a:p>
            <a:endParaRPr lang="en-IN" dirty="0"/>
          </a:p>
        </p:txBody>
      </p:sp>
    </p:spTree>
    <p:extLst>
      <p:ext uri="{BB962C8B-B14F-4D97-AF65-F5344CB8AC3E}">
        <p14:creationId xmlns:p14="http://schemas.microsoft.com/office/powerpoint/2010/main" val="1197862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3AE35E-45AB-319D-F40C-15319D9AFC74}"/>
              </a:ext>
            </a:extLst>
          </p:cNvPr>
          <p:cNvSpPr>
            <a:spLocks noGrp="1"/>
          </p:cNvSpPr>
          <p:nvPr>
            <p:ph idx="1"/>
          </p:nvPr>
        </p:nvSpPr>
        <p:spPr>
          <a:xfrm>
            <a:off x="434401" y="185017"/>
            <a:ext cx="9905999" cy="6574002"/>
          </a:xfrm>
        </p:spPr>
        <p:txBody>
          <a:bodyPr/>
          <a:lstStyle/>
          <a:p>
            <a:pPr marL="0" indent="0">
              <a:buNone/>
            </a:pPr>
            <a:r>
              <a:rPr lang="en-IN" b="1" dirty="0"/>
              <a:t>3. Calorie &amp; Activity Tracking</a:t>
            </a:r>
          </a:p>
          <a:p>
            <a:r>
              <a:rPr lang="en-IN" b="1" dirty="0"/>
              <a:t>Goal:</a:t>
            </a:r>
            <a:r>
              <a:rPr lang="en-IN" dirty="0"/>
              <a:t> Compare calorie intake vs. expenditure, give feedback.</a:t>
            </a:r>
            <a:br>
              <a:rPr lang="en-IN" dirty="0"/>
            </a:br>
            <a:r>
              <a:rPr lang="en-IN" b="1" dirty="0"/>
              <a:t>Datasets:</a:t>
            </a:r>
            <a:endParaRPr lang="en-IN" dirty="0"/>
          </a:p>
          <a:p>
            <a:r>
              <a:rPr lang="en-IN" b="1" dirty="0"/>
              <a:t>Fitbit Activity Data</a:t>
            </a:r>
            <a:r>
              <a:rPr lang="en-IN" dirty="0"/>
              <a:t> – Steps, calorie burn, heart rate.</a:t>
            </a:r>
          </a:p>
          <a:p>
            <a:r>
              <a:rPr lang="en-IN" b="1" dirty="0"/>
              <a:t>NHANES Physical Activity + Dietary Intake</a:t>
            </a:r>
            <a:r>
              <a:rPr lang="en-IN" dirty="0"/>
              <a:t> – Validated research dataset linking exercise and diet.</a:t>
            </a:r>
          </a:p>
          <a:p>
            <a:pPr marL="0" indent="0">
              <a:buNone/>
            </a:pPr>
            <a:r>
              <a:rPr lang="en-IN" b="1" dirty="0"/>
              <a:t>4. User Profiling</a:t>
            </a:r>
          </a:p>
          <a:p>
            <a:r>
              <a:rPr lang="en-IN" b="1" dirty="0"/>
              <a:t>Goal:</a:t>
            </a:r>
            <a:r>
              <a:rPr lang="en-IN" dirty="0"/>
              <a:t> Build dynamic user profiles (age, weight, activity, goals, allergies).</a:t>
            </a:r>
            <a:br>
              <a:rPr lang="en-IN" dirty="0"/>
            </a:br>
            <a:r>
              <a:rPr lang="en-IN" b="1" dirty="0"/>
              <a:t>Datasets:</a:t>
            </a:r>
            <a:endParaRPr lang="en-IN" dirty="0"/>
          </a:p>
          <a:p>
            <a:r>
              <a:rPr lang="en-IN" b="1" dirty="0"/>
              <a:t>NHANES Demographic Data</a:t>
            </a:r>
            <a:r>
              <a:rPr lang="en-IN" dirty="0"/>
              <a:t> – Demographics + health stats for model tuning.</a:t>
            </a:r>
          </a:p>
          <a:p>
            <a:r>
              <a:rPr lang="en-IN" b="1" dirty="0"/>
              <a:t>WHO Global Dietary Database</a:t>
            </a:r>
            <a:r>
              <a:rPr lang="en-IN" dirty="0"/>
              <a:t> – Demographic-based dietary patterns.</a:t>
            </a: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854935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E3ACC0-624D-BB2A-FB85-0339F5D15B8D}"/>
              </a:ext>
            </a:extLst>
          </p:cNvPr>
          <p:cNvSpPr>
            <a:spLocks noGrp="1"/>
          </p:cNvSpPr>
          <p:nvPr>
            <p:ph idx="1"/>
          </p:nvPr>
        </p:nvSpPr>
        <p:spPr>
          <a:xfrm>
            <a:off x="604085" y="175590"/>
            <a:ext cx="9905999" cy="6432600"/>
          </a:xfrm>
        </p:spPr>
        <p:txBody>
          <a:bodyPr/>
          <a:lstStyle/>
          <a:p>
            <a:pPr marL="0" indent="0">
              <a:buNone/>
            </a:pPr>
            <a:r>
              <a:rPr lang="en-IN" b="1" dirty="0"/>
              <a:t>5. Recommendation Generation</a:t>
            </a:r>
          </a:p>
          <a:p>
            <a:r>
              <a:rPr lang="en-IN" b="1" dirty="0"/>
              <a:t>Goal:</a:t>
            </a:r>
            <a:r>
              <a:rPr lang="en-IN" dirty="0"/>
              <a:t> Deliver personalized diets/workouts considering goals &amp; constraints.</a:t>
            </a:r>
            <a:br>
              <a:rPr lang="en-IN" dirty="0"/>
            </a:br>
            <a:r>
              <a:rPr lang="en-IN" b="1" dirty="0"/>
              <a:t>Datasets:</a:t>
            </a:r>
            <a:endParaRPr lang="en-IN" dirty="0"/>
          </a:p>
          <a:p>
            <a:r>
              <a:rPr lang="en-IN" dirty="0"/>
              <a:t>Combination of </a:t>
            </a:r>
            <a:r>
              <a:rPr lang="en-IN" b="1" dirty="0"/>
              <a:t>USDA</a:t>
            </a:r>
            <a:r>
              <a:rPr lang="en-IN" dirty="0"/>
              <a:t>, </a:t>
            </a:r>
            <a:r>
              <a:rPr lang="en-IN" b="1" dirty="0"/>
              <a:t>Recipe1M+</a:t>
            </a:r>
            <a:r>
              <a:rPr lang="en-IN" dirty="0"/>
              <a:t>, </a:t>
            </a:r>
            <a:r>
              <a:rPr lang="en-IN" b="1" dirty="0"/>
              <a:t>Nutrition5k</a:t>
            </a:r>
            <a:r>
              <a:rPr lang="en-IN" dirty="0"/>
              <a:t> for meal planning.</a:t>
            </a:r>
          </a:p>
          <a:p>
            <a:r>
              <a:rPr lang="en-IN" b="1" dirty="0"/>
              <a:t>Clinical nutrition datasets</a:t>
            </a:r>
            <a:r>
              <a:rPr lang="en-IN" dirty="0"/>
              <a:t> for condition-specific recommendations (e.g., low-sodium diets for hypertension).</a:t>
            </a:r>
          </a:p>
          <a:p>
            <a:pPr marL="0" indent="0">
              <a:buNone/>
            </a:pPr>
            <a:r>
              <a:rPr lang="en-IN" b="1" dirty="0"/>
              <a:t>6. System Evaluation</a:t>
            </a:r>
          </a:p>
          <a:p>
            <a:r>
              <a:rPr lang="en-IN" b="1" dirty="0"/>
              <a:t>Goal:</a:t>
            </a:r>
            <a:r>
              <a:rPr lang="en-IN" dirty="0"/>
              <a:t> Evaluate accuracy, precision, and user satisfaction.</a:t>
            </a:r>
            <a:br>
              <a:rPr lang="en-IN" dirty="0"/>
            </a:br>
            <a:r>
              <a:rPr lang="en-IN" b="1" dirty="0"/>
              <a:t>Datasets:</a:t>
            </a:r>
            <a:endParaRPr lang="en-IN" dirty="0"/>
          </a:p>
          <a:p>
            <a:r>
              <a:rPr lang="en-IN" b="1" dirty="0"/>
              <a:t>Held-out test set</a:t>
            </a:r>
            <a:r>
              <a:rPr lang="en-IN" dirty="0"/>
              <a:t> from custom app-collected data.</a:t>
            </a:r>
          </a:p>
          <a:p>
            <a:r>
              <a:rPr lang="en-IN" b="1" dirty="0"/>
              <a:t>Public benchmark diet datasets</a:t>
            </a:r>
            <a:r>
              <a:rPr lang="en-IN" dirty="0"/>
              <a:t> (small-scale, e.g., Kaggle’s Nutrition Facts for fast prototyping).</a:t>
            </a:r>
          </a:p>
          <a:p>
            <a:pPr marL="0" indent="0">
              <a:buNone/>
            </a:pPr>
            <a:endParaRPr lang="en-IN" dirty="0"/>
          </a:p>
        </p:txBody>
      </p:sp>
    </p:spTree>
    <p:extLst>
      <p:ext uri="{BB962C8B-B14F-4D97-AF65-F5344CB8AC3E}">
        <p14:creationId xmlns:p14="http://schemas.microsoft.com/office/powerpoint/2010/main" val="491272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A5A47-AAD8-5AB0-7299-C3B6E63E8F80}"/>
              </a:ext>
            </a:extLst>
          </p:cNvPr>
          <p:cNvSpPr>
            <a:spLocks noGrp="1"/>
          </p:cNvSpPr>
          <p:nvPr>
            <p:ph type="title"/>
          </p:nvPr>
        </p:nvSpPr>
        <p:spPr>
          <a:xfrm>
            <a:off x="2055813" y="0"/>
            <a:ext cx="9905998" cy="1478570"/>
          </a:xfrm>
        </p:spPr>
        <p:txBody>
          <a:bodyPr/>
          <a:lstStyle/>
          <a:p>
            <a:r>
              <a:rPr lang="en-US" dirty="0"/>
              <a:t>   Ai-Training pipeline diagram</a:t>
            </a:r>
            <a:endParaRPr lang="en-IN" dirty="0"/>
          </a:p>
        </p:txBody>
      </p:sp>
      <p:pic>
        <p:nvPicPr>
          <p:cNvPr id="11" name="Picture 10">
            <a:extLst>
              <a:ext uri="{FF2B5EF4-FFF2-40B4-BE49-F238E27FC236}">
                <a16:creationId xmlns:a16="http://schemas.microsoft.com/office/drawing/2014/main" id="{2630B5D5-54FA-C625-89C5-180E4390F3B4}"/>
              </a:ext>
            </a:extLst>
          </p:cNvPr>
          <p:cNvPicPr>
            <a:picLocks noChangeAspect="1"/>
          </p:cNvPicPr>
          <p:nvPr/>
        </p:nvPicPr>
        <p:blipFill>
          <a:blip r:embed="rId2"/>
          <a:stretch>
            <a:fillRect/>
          </a:stretch>
        </p:blipFill>
        <p:spPr>
          <a:xfrm>
            <a:off x="2913822" y="1936206"/>
            <a:ext cx="5534797" cy="3801005"/>
          </a:xfrm>
          <a:prstGeom prst="rect">
            <a:avLst/>
          </a:prstGeom>
        </p:spPr>
      </p:pic>
    </p:spTree>
    <p:extLst>
      <p:ext uri="{BB962C8B-B14F-4D97-AF65-F5344CB8AC3E}">
        <p14:creationId xmlns:p14="http://schemas.microsoft.com/office/powerpoint/2010/main" val="484757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40770-FC2B-73F6-8488-7AB48CD59C5F}"/>
              </a:ext>
            </a:extLst>
          </p:cNvPr>
          <p:cNvSpPr>
            <a:spLocks noGrp="1"/>
          </p:cNvSpPr>
          <p:nvPr>
            <p:ph type="title"/>
          </p:nvPr>
        </p:nvSpPr>
        <p:spPr/>
        <p:txBody>
          <a:bodyPr/>
          <a:lstStyle/>
          <a:p>
            <a:r>
              <a:rPr lang="en-US" dirty="0"/>
              <a:t>                           Conclusion</a:t>
            </a:r>
            <a:endParaRPr lang="en-IN" dirty="0"/>
          </a:p>
        </p:txBody>
      </p:sp>
      <p:sp>
        <p:nvSpPr>
          <p:cNvPr id="4" name="Rectangle 1">
            <a:extLst>
              <a:ext uri="{FF2B5EF4-FFF2-40B4-BE49-F238E27FC236}">
                <a16:creationId xmlns:a16="http://schemas.microsoft.com/office/drawing/2014/main" id="{26CBB6F1-C3D2-46BA-4909-EF5B122C4D57}"/>
              </a:ext>
            </a:extLst>
          </p:cNvPr>
          <p:cNvSpPr>
            <a:spLocks noGrp="1" noChangeArrowheads="1"/>
          </p:cNvSpPr>
          <p:nvPr>
            <p:ph idx="1"/>
          </p:nvPr>
        </p:nvSpPr>
        <p:spPr bwMode="auto">
          <a:xfrm>
            <a:off x="2240602" y="1585444"/>
            <a:ext cx="770762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work so far has established a </a:t>
            </a:r>
            <a:r>
              <a:rPr kumimoji="0" lang="en-US" altLang="en-US" sz="1400" b="1" i="0" u="none" strike="noStrike" cap="none" normalizeH="0" baseline="0" dirty="0">
                <a:ln>
                  <a:noFill/>
                </a:ln>
                <a:solidFill>
                  <a:schemeClr val="tx1"/>
                </a:solidFill>
                <a:effectLst/>
                <a:latin typeface="Arial" panose="020B0604020202020204" pitchFamily="34" charset="0"/>
              </a:rPr>
              <a:t>clear, structured roadmap</a:t>
            </a:r>
            <a:r>
              <a:rPr kumimoji="0" lang="en-US" altLang="en-US" sz="1400" b="0" i="0" u="none" strike="noStrike" cap="none" normalizeH="0" baseline="0" dirty="0">
                <a:ln>
                  <a:noFill/>
                </a:ln>
                <a:solidFill>
                  <a:schemeClr val="tx1"/>
                </a:solidFill>
                <a:effectLst/>
                <a:latin typeface="Arial" panose="020B0604020202020204" pitchFamily="34" charset="0"/>
              </a:rPr>
              <a:t> for developing an AI-powered diet recommendation system that is both scientifically grounded and technically feasible. By systematically mapping the </a:t>
            </a:r>
            <a:r>
              <a:rPr kumimoji="0" lang="en-US" altLang="en-US" sz="1400" b="1" i="0" u="none" strike="noStrike" cap="none" normalizeH="0" baseline="0" dirty="0">
                <a:ln>
                  <a:noFill/>
                </a:ln>
                <a:solidFill>
                  <a:schemeClr val="tx1"/>
                </a:solidFill>
                <a:effectLst/>
                <a:latin typeface="Arial" panose="020B0604020202020204" pitchFamily="34" charset="0"/>
              </a:rPr>
              <a:t>methodologies</a:t>
            </a:r>
            <a:r>
              <a:rPr kumimoji="0" lang="en-US" altLang="en-US" sz="1400" b="0" i="0" u="none" strike="noStrike" cap="none" normalizeH="0" baseline="0" dirty="0">
                <a:ln>
                  <a:noFill/>
                </a:ln>
                <a:solidFill>
                  <a:schemeClr val="tx1"/>
                </a:solidFill>
                <a:effectLst/>
                <a:latin typeface="Arial" panose="020B0604020202020204" pitchFamily="34" charset="0"/>
              </a:rPr>
              <a:t> from the research paper to </a:t>
            </a:r>
            <a:r>
              <a:rPr kumimoji="0" lang="en-US" altLang="en-US" sz="1400" b="1" i="0" u="none" strike="noStrike" cap="none" normalizeH="0" baseline="0" dirty="0">
                <a:ln>
                  <a:noFill/>
                </a:ln>
                <a:solidFill>
                  <a:schemeClr val="tx1"/>
                </a:solidFill>
                <a:effectLst/>
                <a:latin typeface="Arial" panose="020B0604020202020204" pitchFamily="34" charset="0"/>
              </a:rPr>
              <a:t>real-world datasets</a:t>
            </a:r>
            <a:r>
              <a:rPr kumimoji="0" lang="en-US" altLang="en-US" sz="1400" b="0" i="0" u="none" strike="noStrike" cap="none" normalizeH="0" baseline="0" dirty="0">
                <a:ln>
                  <a:noFill/>
                </a:ln>
                <a:solidFill>
                  <a:schemeClr val="tx1"/>
                </a:solidFill>
                <a:effectLst/>
                <a:latin typeface="Arial" panose="020B0604020202020204" pitchFamily="34" charset="0"/>
              </a:rPr>
              <a:t>, we have ensured that every stage of the AI pipeline — from </a:t>
            </a:r>
            <a:r>
              <a:rPr kumimoji="0" lang="en-US" altLang="en-US" sz="1400" b="1" i="0" u="none" strike="noStrike" cap="none" normalizeH="0" baseline="0" dirty="0">
                <a:ln>
                  <a:noFill/>
                </a:ln>
                <a:solidFill>
                  <a:schemeClr val="tx1"/>
                </a:solidFill>
                <a:effectLst/>
                <a:latin typeface="Arial" panose="020B0604020202020204" pitchFamily="34" charset="0"/>
              </a:rPr>
              <a:t>data collection</a:t>
            </a:r>
            <a:r>
              <a:rPr kumimoji="0" lang="en-US" altLang="en-US" sz="1400" b="0" i="0" u="none" strike="noStrike" cap="none" normalizeH="0" baseline="0" dirty="0">
                <a:ln>
                  <a:noFill/>
                </a:ln>
                <a:solidFill>
                  <a:schemeClr val="tx1"/>
                </a:solidFill>
                <a:effectLst/>
                <a:latin typeface="Arial" panose="020B0604020202020204" pitchFamily="34" charset="0"/>
              </a:rPr>
              <a:t> to </a:t>
            </a:r>
            <a:r>
              <a:rPr kumimoji="0" lang="en-US" altLang="en-US" sz="1400" b="1" i="0" u="none" strike="noStrike" cap="none" normalizeH="0" baseline="0" dirty="0">
                <a:ln>
                  <a:noFill/>
                </a:ln>
                <a:solidFill>
                  <a:schemeClr val="tx1"/>
                </a:solidFill>
                <a:effectLst/>
                <a:latin typeface="Arial" panose="020B0604020202020204" pitchFamily="34" charset="0"/>
              </a:rPr>
              <a:t>system evaluation</a:t>
            </a:r>
            <a:r>
              <a:rPr kumimoji="0" lang="en-US" altLang="en-US" sz="1400" b="0" i="0" u="none" strike="noStrike" cap="none" normalizeH="0" baseline="0" dirty="0">
                <a:ln>
                  <a:noFill/>
                </a:ln>
                <a:solidFill>
                  <a:schemeClr val="tx1"/>
                </a:solidFill>
                <a:effectLst/>
                <a:latin typeface="Arial" panose="020B0604020202020204" pitchFamily="34" charset="0"/>
              </a:rPr>
              <a:t> — is backed by credible, high-quality data sources.</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The </a:t>
            </a:r>
            <a:r>
              <a:rPr kumimoji="0" lang="en-US" altLang="en-US" sz="1400" b="1" i="0" u="none" strike="noStrike" cap="none" normalizeH="0" baseline="0" dirty="0">
                <a:ln>
                  <a:noFill/>
                </a:ln>
                <a:solidFill>
                  <a:schemeClr val="tx1"/>
                </a:solidFill>
                <a:effectLst/>
                <a:latin typeface="Arial" panose="020B0604020202020204" pitchFamily="34" charset="0"/>
              </a:rPr>
              <a:t>pipeline diagram</a:t>
            </a:r>
            <a:r>
              <a:rPr kumimoji="0" lang="en-US" altLang="en-US" sz="1400" b="0" i="0" u="none" strike="noStrike" cap="none" normalizeH="0" baseline="0" dirty="0">
                <a:ln>
                  <a:noFill/>
                </a:ln>
                <a:solidFill>
                  <a:schemeClr val="tx1"/>
                </a:solidFill>
                <a:effectLst/>
                <a:latin typeface="Arial" panose="020B0604020202020204" pitchFamily="34" charset="0"/>
              </a:rPr>
              <a:t> provides a visual blueprint for how these components interact, ensuring smooth transitions between preprocessing, modeling, user profiling, tracking, and recommendation generation. This structure also allows for scalability, supporting future integrations like </a:t>
            </a:r>
            <a:r>
              <a:rPr kumimoji="0" lang="en-US" altLang="en-US" sz="1400" b="1" i="0" u="none" strike="noStrike" cap="none" normalizeH="0" baseline="0" dirty="0">
                <a:ln>
                  <a:noFill/>
                </a:ln>
                <a:solidFill>
                  <a:schemeClr val="tx1"/>
                </a:solidFill>
                <a:effectLst/>
                <a:latin typeface="Arial" panose="020B0604020202020204" pitchFamily="34" charset="0"/>
              </a:rPr>
              <a:t>wearables, EHRs, food image recognition, and gamification</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With this foundation in place, the project is positioned to move from </a:t>
            </a:r>
            <a:r>
              <a:rPr kumimoji="0" lang="en-US" altLang="en-US" sz="1400" b="1" i="0" u="none" strike="noStrike" cap="none" normalizeH="0" baseline="0" dirty="0">
                <a:ln>
                  <a:noFill/>
                </a:ln>
                <a:solidFill>
                  <a:schemeClr val="tx1"/>
                </a:solidFill>
                <a:effectLst/>
                <a:latin typeface="Arial" panose="020B0604020202020204" pitchFamily="34" charset="0"/>
              </a:rPr>
              <a:t>concept to prototype</a:t>
            </a:r>
            <a:r>
              <a:rPr kumimoji="0" lang="en-US" altLang="en-US" sz="1400" b="0" i="0" u="none" strike="noStrike" cap="none" normalizeH="0" baseline="0" dirty="0">
                <a:ln>
                  <a:noFill/>
                </a:ln>
                <a:solidFill>
                  <a:schemeClr val="tx1"/>
                </a:solidFill>
                <a:effectLst/>
                <a:latin typeface="Arial" panose="020B0604020202020204" pitchFamily="34" charset="0"/>
              </a:rPr>
              <a:t>, leveraging machine learning techniques like collaborative filtering, content-based filtering, and deep learning to deliver </a:t>
            </a:r>
            <a:r>
              <a:rPr kumimoji="0" lang="en-US" altLang="en-US" sz="1400" b="1" i="0" u="none" strike="noStrike" cap="none" normalizeH="0" baseline="0" dirty="0">
                <a:ln>
                  <a:noFill/>
                </a:ln>
                <a:solidFill>
                  <a:schemeClr val="tx1"/>
                </a:solidFill>
                <a:effectLst/>
                <a:latin typeface="Arial" panose="020B0604020202020204" pitchFamily="34" charset="0"/>
              </a:rPr>
              <a:t>personalized, adaptive diet and fitness plans</a:t>
            </a:r>
            <a:r>
              <a:rPr kumimoji="0" lang="en-US" altLang="en-US" sz="1400" b="0" i="0" u="none" strike="noStrike" cap="none" normalizeH="0" baseline="0" dirty="0">
                <a:ln>
                  <a:noFill/>
                </a:ln>
                <a:solidFill>
                  <a:schemeClr val="tx1"/>
                </a:solidFill>
                <a:effectLst/>
                <a:latin typeface="Arial" panose="020B0604020202020204" pitchFamily="34" charset="0"/>
              </a:rPr>
              <a:t>. The approach prioritizes user-centric design, accuracy, and feedback loops, making it adaptable to a wide variety of users, from casual health enthusiasts to those with specific medical dietary needs.</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In short, we now have:</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A well-defined methodology</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Mapped datasets for training</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A complete AI pipeline design</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This sets the stage for the </a:t>
            </a:r>
            <a:r>
              <a:rPr kumimoji="0" lang="en-US" altLang="en-US" sz="1400" b="1" i="0" u="none" strike="noStrike" cap="none" normalizeH="0" baseline="0" dirty="0">
                <a:ln>
                  <a:noFill/>
                </a:ln>
                <a:solidFill>
                  <a:schemeClr val="tx1"/>
                </a:solidFill>
                <a:effectLst/>
                <a:latin typeface="Arial" panose="020B0604020202020204" pitchFamily="34" charset="0"/>
              </a:rPr>
              <a:t>next phase: implementation and model training</a:t>
            </a:r>
            <a:r>
              <a:rPr kumimoji="0" lang="en-US" altLang="en-US" sz="1400" b="0" i="0" u="none" strike="noStrike" cap="none" normalizeH="0" baseline="0" dirty="0">
                <a:ln>
                  <a:noFill/>
                </a:ln>
                <a:solidFill>
                  <a:schemeClr val="tx1"/>
                </a:solidFill>
                <a:effectLst/>
                <a:latin typeface="Arial" panose="020B0604020202020204" pitchFamily="34" charset="0"/>
              </a:rPr>
              <a:t>, which will transform this framework into a functional, intelligent diet assistant capable of improving health outcomes at scale.</a:t>
            </a:r>
          </a:p>
        </p:txBody>
      </p:sp>
    </p:spTree>
    <p:extLst>
      <p:ext uri="{BB962C8B-B14F-4D97-AF65-F5344CB8AC3E}">
        <p14:creationId xmlns:p14="http://schemas.microsoft.com/office/powerpoint/2010/main" val="37815920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Retrospect</Template>
  <TotalTime>112</TotalTime>
  <Words>1482</Words>
  <Application>Microsoft Office PowerPoint</Application>
  <PresentationFormat>Widescreen</PresentationFormat>
  <Paragraphs>77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Roboto</vt:lpstr>
      <vt:lpstr>Roboto Slab</vt:lpstr>
      <vt:lpstr>Tw Cen MT</vt:lpstr>
      <vt:lpstr>Circuit</vt:lpstr>
      <vt:lpstr>AI-Powered Diet Recommendation System: Revolutionizing Personalized Nutrition </vt:lpstr>
      <vt:lpstr>Objectives</vt:lpstr>
      <vt:lpstr>Literature Review </vt:lpstr>
      <vt:lpstr>Literature review (PART 2)</vt:lpstr>
      <vt:lpstr>Literature review (part 3)</vt:lpstr>
      <vt:lpstr>Literature review (part 4)</vt:lpstr>
      <vt:lpstr>METHODOLOGY USED</vt:lpstr>
      <vt:lpstr>PowerPoint Presentation</vt:lpstr>
      <vt:lpstr>PowerPoint Presentation</vt:lpstr>
      <vt:lpstr>PowerPoint Presentation</vt:lpstr>
      <vt:lpstr>   Ai-Training pipeline diagram</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Riddhi Basak</dc:creator>
  <cp:lastModifiedBy>Pratyay Roy</cp:lastModifiedBy>
  <cp:revision>4</cp:revision>
  <dcterms:created xsi:type="dcterms:W3CDTF">2025-08-10T14:28:17Z</dcterms:created>
  <dcterms:modified xsi:type="dcterms:W3CDTF">2025-08-10T20:28:39Z</dcterms:modified>
</cp:coreProperties>
</file>